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14"/>
  </p:notesMasterIdLst>
  <p:sldIdLst>
    <p:sldId id="256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2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455" autoAdjust="0"/>
    <p:restoredTop sz="94674"/>
  </p:normalViewPr>
  <p:slideViewPr>
    <p:cSldViewPr snapToGrid="0" snapToObjects="1">
      <p:cViewPr varScale="1">
        <p:scale>
          <a:sx n="127" d="100"/>
          <a:sy n="127" d="100"/>
        </p:scale>
        <p:origin x="1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4A0EE-964E-444D-8CAB-DAE34DB7F107}" type="datetimeFigureOut">
              <a:rPr lang="en-US" smtClean="0"/>
              <a:t>7/29/24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CBDC9-1522-C948-9869-F8465C2CF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9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0" name="Shape 18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tabLst/>
                <a:defRPr/>
              </a:pPr>
              <a:t>2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50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tabLst/>
                <a:defRPr/>
              </a:pPr>
              <a:t>3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8057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/>
          </a:p>
        </p:txBody>
      </p:sp>
      <p:sp>
        <p:nvSpPr>
          <p:cNvPr id="201" name="Shape 201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AU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5719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7304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Shape 21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20" name="Shape 22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6776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29" name="Shape 2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6673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7679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9549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68" name="Shape 26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356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Shape 27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77" name="Shape 27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1032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A75C58E-35AC-D944-AE15-81D225480CE8}"/>
              </a:ext>
            </a:extLst>
          </p:cNvPr>
          <p:cNvSpPr txBox="1">
            <a:spLocks/>
          </p:cNvSpPr>
          <p:nvPr userDrawn="1"/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23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40E8D6-300A-EC4E-9A82-8E5FF0C767D0}"/>
              </a:ext>
            </a:extLst>
          </p:cNvPr>
          <p:cNvSpPr/>
          <p:nvPr userDrawn="1"/>
        </p:nvSpPr>
        <p:spPr>
          <a:xfrm>
            <a:off x="-1" y="0"/>
            <a:ext cx="12192001" cy="895104"/>
          </a:xfrm>
          <a:prstGeom prst="rect">
            <a:avLst/>
          </a:prstGeom>
          <a:solidFill>
            <a:srgbClr val="34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1" i="0" dirty="0">
              <a:solidFill>
                <a:srgbClr val="343638"/>
              </a:solidFill>
              <a:latin typeface="Montserrat" pitchFamily="2" charset="77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EB252FA-DA85-3A44-94E6-B57BDF7F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64" y="1"/>
            <a:ext cx="10515600" cy="895104"/>
          </a:xfrm>
        </p:spPr>
        <p:txBody>
          <a:bodyPr lIns="90000" tIns="46800" rIns="90000" bIns="46800">
            <a:normAutofit/>
          </a:bodyPr>
          <a:lstStyle>
            <a:lvl1pPr>
              <a:defRPr sz="1000" cap="all" baseline="0">
                <a:solidFill>
                  <a:srgbClr val="FFEC00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AE6A867-174C-5E4A-8965-1E4A013AB9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61664" y="6254750"/>
            <a:ext cx="4114800" cy="365125"/>
          </a:xfrm>
        </p:spPr>
        <p:txBody>
          <a:bodyPr/>
          <a:lstStyle/>
          <a:p>
            <a:r>
              <a:rPr lang="en-US"/>
              <a:t>NAME PRESENTATION  </a:t>
            </a:r>
            <a:r>
              <a:rPr lang="en-US" b="0"/>
              <a:t>2019</a:t>
            </a:r>
            <a:endParaRPr lang="en-US" b="0" dirty="0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4E674339-EC84-F646-877A-EDD9D43C1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9614" y="1654631"/>
            <a:ext cx="4324351" cy="38684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43638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CE19EF3-F776-A542-836A-D43991213A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4118" y="1654629"/>
            <a:ext cx="6127735" cy="3875314"/>
          </a:xfrm>
        </p:spPr>
        <p:txBody>
          <a:bodyPr/>
          <a:lstStyle>
            <a:lvl1pPr>
              <a:defRPr sz="2000">
                <a:solidFill>
                  <a:srgbClr val="34363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360363" indent="-180975">
              <a:lnSpc>
                <a:spcPct val="100000"/>
              </a:lnSpc>
              <a:spcBef>
                <a:spcPts val="0"/>
              </a:spcBef>
              <a:tabLst/>
              <a:defRPr sz="14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533400" indent="-130175">
              <a:lnSpc>
                <a:spcPct val="100000"/>
              </a:lnSpc>
              <a:spcBef>
                <a:spcPts val="0"/>
              </a:spcBef>
              <a:tabLst/>
              <a:defRPr sz="14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714375" indent="-180975">
              <a:lnSpc>
                <a:spcPct val="100000"/>
              </a:lnSpc>
              <a:spcBef>
                <a:spcPts val="0"/>
              </a:spcBef>
              <a:tabLst/>
              <a:defRPr sz="14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_1a">
    <p:bg>
      <p:bgPr>
        <a:solidFill>
          <a:srgbClr val="FFE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66EBD57-7606-EB40-99D1-D3DE11ABC026}"/>
              </a:ext>
            </a:extLst>
          </p:cNvPr>
          <p:cNvSpPr/>
          <p:nvPr userDrawn="1"/>
        </p:nvSpPr>
        <p:spPr>
          <a:xfrm>
            <a:off x="1044315" y="1101779"/>
            <a:ext cx="10103371" cy="3620124"/>
          </a:xfrm>
          <a:prstGeom prst="rect">
            <a:avLst/>
          </a:prstGeom>
          <a:solidFill>
            <a:srgbClr val="34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1" i="0" dirty="0">
              <a:latin typeface="Montserrat" pitchFamily="2" charset="77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36DEF75-8434-124B-BD4E-D89E050528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357239"/>
            <a:ext cx="9144000" cy="940900"/>
          </a:xfrm>
        </p:spPr>
        <p:txBody>
          <a:bodyPr wrap="square" anchor="t" anchorCtr="0">
            <a:spAutoFit/>
          </a:bodyPr>
          <a:lstStyle>
            <a:lvl1pPr algn="ctr">
              <a:lnSpc>
                <a:spcPts val="6620"/>
              </a:lnSpc>
              <a:defRPr sz="6600" b="1" i="0">
                <a:solidFill>
                  <a:srgbClr val="FEED00"/>
                </a:solidFill>
                <a:latin typeface="Montserrat ExtraBold" pitchFamily="2" charset="77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32D21AA-64F9-6544-A241-286354AD8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34449"/>
            <a:ext cx="9144000" cy="482183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ctr">
              <a:lnSpc>
                <a:spcPts val="2860"/>
              </a:lnSpc>
              <a:spcAft>
                <a:spcPts val="0"/>
              </a:spcAft>
              <a:buNone/>
              <a:defRPr sz="2800" b="1" i="0" cap="all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38682B-CC0C-2240-9610-7524699E50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8927" y="5159669"/>
            <a:ext cx="1814147" cy="880395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2059678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B6BC-D639-F449-A88A-1DFC5F88D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 b="0" i="0">
                <a:latin typeface="Playfair Display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01EE0-34F8-494E-BC45-9C050EC0F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40B2B-396F-0249-8F87-90900160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0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A715-AC41-AF40-B8C0-6EBCEFE7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95" y="582627"/>
            <a:ext cx="10738805" cy="1108061"/>
          </a:xfrm>
          <a:prstGeom prst="rect">
            <a:avLst/>
          </a:prstGeom>
        </p:spPr>
        <p:txBody>
          <a:bodyPr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808C3-5F10-8943-AFE3-F9FE50DE4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995" y="1925903"/>
            <a:ext cx="10738805" cy="425105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3D5C1F-B630-214F-9A2B-48246003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9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16DF-0EC1-F346-80D4-05F77DFC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95" y="1523622"/>
            <a:ext cx="10572244" cy="2852737"/>
          </a:xfrm>
          <a:prstGeom prst="rect">
            <a:avLst/>
          </a:prstGeom>
        </p:spPr>
        <p:txBody>
          <a:bodyPr anchor="b"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5FF31-AF75-F14B-B569-24216365F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995" y="4531541"/>
            <a:ext cx="10732455" cy="1558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17A05C-902F-C442-AF33-2BF26856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22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DEC3-DB74-434A-99CE-E2083889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95" y="509799"/>
            <a:ext cx="10738805" cy="118088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5A9C3-FA74-C049-8D0D-92679EF76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4995" y="1830542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47BE7-FEA8-C044-AA55-4F1B16D7F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44750" y="1830541"/>
            <a:ext cx="5211946" cy="43464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0D2B1-0A8C-4444-9139-2E9BC555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74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0A46-B6AC-CA44-8FED-236329A38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811" y="436970"/>
            <a:ext cx="10756577" cy="125371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79E8D-58C2-B84E-B4A4-FF322533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811" y="1690688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D5F59-537F-104A-A0AF-F6DEB1647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811" y="2535420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8B79F-1690-964F-945B-6D16F0711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EF02C-EDB8-D744-9198-D3E08AC33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35420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488B019-B37C-2542-9ABA-83674F139371}"/>
              </a:ext>
            </a:extLst>
          </p:cNvPr>
          <p:cNvSpPr txBox="1">
            <a:spLocks/>
          </p:cNvSpPr>
          <p:nvPr userDrawn="1"/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78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3725-15E3-8649-B88C-78066B51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624" y="44604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3315374-D8C3-5D41-A27C-0BD5FEEC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39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A75C58E-35AC-D944-AE15-81D225480CE8}"/>
              </a:ext>
            </a:extLst>
          </p:cNvPr>
          <p:cNvSpPr txBox="1">
            <a:spLocks/>
          </p:cNvSpPr>
          <p:nvPr userDrawn="1"/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10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0DC8-600A-B347-99F9-628BF10F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212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24867-BF7D-5345-91E8-72C585FA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86158-1487-C743-89F6-4F5C47886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3212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A6B29-1A50-B64D-B308-0BB317B295C8}"/>
              </a:ext>
            </a:extLst>
          </p:cNvPr>
          <p:cNvSpPr txBox="1">
            <a:spLocks/>
          </p:cNvSpPr>
          <p:nvPr userDrawn="1"/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402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3FE4-50E5-4E48-B22E-548BD098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02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07AEE-60E2-7E43-A304-F490370BE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5312182" cy="3843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F2D99-0A04-9242-AB1E-FF89268B9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02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D0B8E-8217-A24F-B169-2F02A946266B}"/>
              </a:ext>
            </a:extLst>
          </p:cNvPr>
          <p:cNvSpPr txBox="1">
            <a:spLocks/>
          </p:cNvSpPr>
          <p:nvPr userDrawn="1"/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34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3C16-3122-744A-B8BA-42789E1B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95" y="388418"/>
            <a:ext cx="10738805" cy="1302270"/>
          </a:xfrm>
          <a:prstGeom prst="rect">
            <a:avLst/>
          </a:prstGeom>
        </p:spPr>
        <p:txBody>
          <a:bodyPr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95964-BB91-6E44-A211-96CF27C79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4995" y="1796433"/>
            <a:ext cx="10738805" cy="3261090"/>
          </a:xfrm>
          <a:prstGeom prst="rect">
            <a:avLst/>
          </a:prstGeom>
        </p:spPr>
        <p:txBody>
          <a:bodyPr vert="eaVert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F38C46-8726-914A-96E5-57E150F454EC}"/>
              </a:ext>
            </a:extLst>
          </p:cNvPr>
          <p:cNvSpPr txBox="1">
            <a:spLocks/>
          </p:cNvSpPr>
          <p:nvPr userDrawn="1"/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653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D1E26-AAFD-DC4D-9727-ED2AD5752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09799"/>
            <a:ext cx="2628900" cy="4499171"/>
          </a:xfrm>
          <a:prstGeom prst="rect">
            <a:avLst/>
          </a:prstGeom>
        </p:spPr>
        <p:txBody>
          <a:bodyPr vert="eaVert"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04AA2-651F-2C42-8394-969AE264F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09799"/>
            <a:ext cx="7734300" cy="5667164"/>
          </a:xfrm>
          <a:prstGeom prst="rect">
            <a:avLst/>
          </a:prstGeom>
        </p:spPr>
        <p:txBody>
          <a:bodyPr vert="eaVert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D65D45-F446-4742-84B6-5FBB07CC139D}"/>
              </a:ext>
            </a:extLst>
          </p:cNvPr>
          <p:cNvSpPr txBox="1">
            <a:spLocks/>
          </p:cNvSpPr>
          <p:nvPr userDrawn="1"/>
        </p:nvSpPr>
        <p:spPr>
          <a:xfrm>
            <a:off x="211069" y="167237"/>
            <a:ext cx="460570" cy="3425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A6F528-5FD8-2D4C-A50E-2D0CF89D05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31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1B7F6E6-8D18-3D44-AD33-F649A571541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1219347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2B4D51-31F3-684F-8763-BB8754A3ACB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37901" y="5695693"/>
            <a:ext cx="782006" cy="88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38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A4714A2-B44A-CE45-A82E-BD8B0E54C0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11161" t="1458" r="24478" b="38451"/>
          <a:stretch/>
        </p:blipFill>
        <p:spPr>
          <a:xfrm>
            <a:off x="10311409" y="5103749"/>
            <a:ext cx="1904341" cy="1778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1EE43B-4836-194D-A687-E220DBACC1E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130078" y="5686834"/>
            <a:ext cx="789828" cy="8945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0CAE32-8B92-6040-9ED5-8D9230D3E472}"/>
              </a:ext>
            </a:extLst>
          </p:cNvPr>
          <p:cNvSpPr txBox="1"/>
          <p:nvPr userDrawn="1"/>
        </p:nvSpPr>
        <p:spPr>
          <a:xfrm>
            <a:off x="516596" y="6377340"/>
            <a:ext cx="1121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jcu.edu.au</a:t>
            </a:r>
            <a:endParaRPr lang="en-US" sz="1200" b="1" i="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3A0AE8-A531-1F4D-933B-A517B28C109D}"/>
              </a:ext>
            </a:extLst>
          </p:cNvPr>
          <p:cNvCxnSpPr>
            <a:cxnSpLocks/>
          </p:cNvCxnSpPr>
          <p:nvPr userDrawn="1"/>
        </p:nvCxnSpPr>
        <p:spPr>
          <a:xfrm>
            <a:off x="1488935" y="6566005"/>
            <a:ext cx="8696465" cy="15369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194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3CEE43-CE0D-F64B-BF42-C02F22AA07EC}"/>
              </a:ext>
            </a:extLst>
          </p:cNvPr>
          <p:cNvSpPr txBox="1">
            <a:spLocks/>
          </p:cNvSpPr>
          <p:nvPr/>
        </p:nvSpPr>
        <p:spPr>
          <a:xfrm>
            <a:off x="7335078" y="1425204"/>
            <a:ext cx="4858392" cy="1735440"/>
          </a:xfrm>
          <a:prstGeom prst="rect">
            <a:avLst/>
          </a:prstGeom>
          <a:solidFill>
            <a:srgbClr val="F02340"/>
          </a:solidFill>
        </p:spPr>
        <p:txBody>
          <a:bodyPr wrap="square" lIns="21600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/>
                </a:solidFill>
                <a:latin typeface="Playfair Display" pitchFamily="2" charset="77"/>
                <a:ea typeface="+mj-ea"/>
                <a:cs typeface="+mj-cs"/>
              </a:defRPr>
            </a:lvl1pPr>
          </a:lstStyle>
          <a:p>
            <a:pPr algn="l"/>
            <a:r>
              <a:rPr lang="en-US" sz="4000" baseline="0" dirty="0">
                <a:solidFill>
                  <a:schemeClr val="bg1"/>
                </a:solidFill>
                <a:latin typeface="Playfair Display" pitchFamily="2" charset="77"/>
              </a:rPr>
              <a:t>Pitch Framework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2191D1-9075-D251-7CAC-10649EF9999D}"/>
              </a:ext>
            </a:extLst>
          </p:cNvPr>
          <p:cNvSpPr txBox="1"/>
          <p:nvPr/>
        </p:nvSpPr>
        <p:spPr>
          <a:xfrm>
            <a:off x="8176734" y="3160644"/>
            <a:ext cx="4015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Nico Adams</a:t>
            </a:r>
          </a:p>
          <a:p>
            <a:pPr algn="r"/>
            <a:r>
              <a:rPr lang="en-US" dirty="0"/>
              <a:t>Optus Chair of Digital Innovation and IOT</a:t>
            </a:r>
          </a:p>
        </p:txBody>
      </p:sp>
    </p:spTree>
    <p:extLst>
      <p:ext uri="{BB962C8B-B14F-4D97-AF65-F5344CB8AC3E}">
        <p14:creationId xmlns:p14="http://schemas.microsoft.com/office/powerpoint/2010/main" val="7332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How to tell a great story</a:t>
            </a:r>
          </a:p>
        </p:txBody>
      </p:sp>
      <p:sp>
        <p:nvSpPr>
          <p:cNvPr id="184" name="Shape 184"/>
          <p:cNvSpPr txBox="1">
            <a:spLocks noGrp="1"/>
          </p:cNvSpPr>
          <p:nvPr>
            <p:ph type="body" sz="quarter" idx="4294967295"/>
          </p:nvPr>
        </p:nvSpPr>
        <p:spPr>
          <a:xfrm>
            <a:off x="611624" y="1654174"/>
            <a:ext cx="11580376" cy="4587599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marL="571500" lvl="0" indent="-342900" rtl="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AU" b="0" dirty="0">
                <a:latin typeface="+mn-lt"/>
              </a:rPr>
              <a:t>Slides illustrate. Tell a story in a picture. Don’t use text that you will read or lots of data that people will try to understand instead of listening to you.</a:t>
            </a:r>
          </a:p>
          <a:p>
            <a:pPr marL="571500" lvl="0" indent="-342900" rtl="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AU" b="0" dirty="0">
                <a:latin typeface="+mn-lt"/>
              </a:rPr>
              <a:t>What is your story? How does it flow from one image to the next?</a:t>
            </a:r>
          </a:p>
          <a:p>
            <a:pPr marL="571500" lvl="0" indent="-342900" rtl="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AU" b="0" dirty="0">
                <a:latin typeface="+mn-lt"/>
              </a:rPr>
              <a:t>What phrases/imagery can you repeat as a theme?</a:t>
            </a:r>
          </a:p>
          <a:p>
            <a:pPr marL="571500" lvl="0" indent="-342900" rtl="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AU" b="0" dirty="0">
                <a:latin typeface="+mn-lt"/>
              </a:rPr>
              <a:t>Could you present it to anyone and they would understand and be excited about what you do?</a:t>
            </a:r>
          </a:p>
          <a:p>
            <a:pPr marL="571500" lvl="0" indent="-342900" rtl="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AU" b="0" dirty="0">
                <a:latin typeface="+mn-lt"/>
              </a:rPr>
              <a:t>Big pictures not small. Words a patterns not sentences.</a:t>
            </a:r>
          </a:p>
          <a:p>
            <a:pPr marL="571500" lvl="0" indent="-342900" rtl="0"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AU" b="0" dirty="0">
                <a:latin typeface="+mn-lt"/>
              </a:rPr>
              <a:t>Feel free to make more slides if you need to </a:t>
            </a:r>
            <a:r>
              <a:rPr lang="en-AU" b="0" dirty="0" err="1">
                <a:latin typeface="+mn-lt"/>
              </a:rPr>
              <a:t>to</a:t>
            </a:r>
            <a:r>
              <a:rPr lang="en-AU" b="0" dirty="0">
                <a:latin typeface="+mn-lt"/>
              </a:rPr>
              <a:t> tell your story.</a:t>
            </a:r>
          </a:p>
        </p:txBody>
      </p:sp>
    </p:spTree>
    <p:extLst>
      <p:ext uri="{BB962C8B-B14F-4D97-AF65-F5344CB8AC3E}">
        <p14:creationId xmlns:p14="http://schemas.microsoft.com/office/powerpoint/2010/main" val="96788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SLIDE THEME </a:t>
            </a:r>
          </a:p>
        </p:txBody>
      </p:sp>
      <p:sp>
        <p:nvSpPr>
          <p:cNvPr id="192" name="Shape 192"/>
          <p:cNvSpPr txBox="1">
            <a:spLocks noGrp="1"/>
          </p:cNvSpPr>
          <p:nvPr>
            <p:ph type="body" sz="quarter" idx="4294967295"/>
          </p:nvPr>
        </p:nvSpPr>
        <p:spPr>
          <a:xfrm>
            <a:off x="359225" y="1975725"/>
            <a:ext cx="6127750" cy="3876675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AU" dirty="0"/>
              <a:t>Short sentence, a word pattern or image. All needs to be consumed in 1-2 seconds. In the  pause before you start speaking again.</a:t>
            </a:r>
          </a:p>
        </p:txBody>
      </p:sp>
      <p:sp>
        <p:nvSpPr>
          <p:cNvPr id="195" name="Shape 195"/>
          <p:cNvSpPr/>
          <p:nvPr/>
        </p:nvSpPr>
        <p:spPr>
          <a:xfrm>
            <a:off x="7645425" y="3429000"/>
            <a:ext cx="3104700" cy="24234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What might they be thinking? What is distracting them instead of listening to you? What do they want to know?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You can delete these bubbles.</a:t>
            </a:r>
          </a:p>
        </p:txBody>
      </p:sp>
      <p:sp>
        <p:nvSpPr>
          <p:cNvPr id="196" name="Shape 196"/>
          <p:cNvSpPr/>
          <p:nvPr/>
        </p:nvSpPr>
        <p:spPr>
          <a:xfrm rot="10800000">
            <a:off x="7526325" y="1121100"/>
            <a:ext cx="3223800" cy="186060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8248836" y="1535618"/>
            <a:ext cx="2290200" cy="1216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SLIDE ARCHITECTURE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Each slide has the following elements</a:t>
            </a:r>
          </a:p>
        </p:txBody>
      </p:sp>
    </p:spTree>
    <p:extLst>
      <p:ext uri="{BB962C8B-B14F-4D97-AF65-F5344CB8AC3E}">
        <p14:creationId xmlns:p14="http://schemas.microsoft.com/office/powerpoint/2010/main" val="52899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ctrTitle" idx="4294967295"/>
          </p:nvPr>
        </p:nvSpPr>
        <p:spPr>
          <a:xfrm>
            <a:off x="7136296" y="765313"/>
            <a:ext cx="5055704" cy="2468425"/>
          </a:xfrm>
          <a:prstGeom prst="rect">
            <a:avLst/>
          </a:prstGeom>
        </p:spPr>
        <p:txBody>
          <a:bodyPr lIns="121900" tIns="121900" rIns="121900" bIns="121900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AU" sz="5000" dirty="0"/>
              <a:t>Product/Company Name</a:t>
            </a:r>
          </a:p>
        </p:txBody>
      </p:sp>
      <p:sp>
        <p:nvSpPr>
          <p:cNvPr id="207" name="Shape 207"/>
          <p:cNvSpPr txBox="1">
            <a:spLocks noGrp="1"/>
          </p:cNvSpPr>
          <p:nvPr>
            <p:ph type="subTitle" idx="4294967295"/>
          </p:nvPr>
        </p:nvSpPr>
        <p:spPr>
          <a:xfrm>
            <a:off x="7553738" y="3064773"/>
            <a:ext cx="4638261" cy="482600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AU" dirty="0"/>
              <a:t>Unique Value Proposition</a:t>
            </a:r>
          </a:p>
        </p:txBody>
      </p:sp>
      <p:sp>
        <p:nvSpPr>
          <p:cNvPr id="205" name="Shape 205"/>
          <p:cNvSpPr/>
          <p:nvPr/>
        </p:nvSpPr>
        <p:spPr>
          <a:xfrm>
            <a:off x="9302176" y="3675911"/>
            <a:ext cx="2731648" cy="266629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Interesting name and value proposition… but what is it…? I’m interested but sceptical. Tell me more.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BTW, give me a moment for your UVP to sink in before you </a:t>
            </a:r>
            <a:r>
              <a:rPr kumimoji="0" lang="en-AU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woosh</a:t>
            </a: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 me to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27222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THE PROBLEM WE ARE SOLVING</a:t>
            </a:r>
          </a:p>
        </p:txBody>
      </p:sp>
      <p:sp>
        <p:nvSpPr>
          <p:cNvPr id="215" name="Shape 215"/>
          <p:cNvSpPr txBox="1">
            <a:spLocks noGrp="1"/>
          </p:cNvSpPr>
          <p:nvPr>
            <p:ph type="body" sz="quarter" idx="4294967295"/>
          </p:nvPr>
        </p:nvSpPr>
        <p:spPr>
          <a:xfrm>
            <a:off x="536714" y="1677436"/>
            <a:ext cx="6127750" cy="3875087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r>
              <a:rPr lang="en-AU" dirty="0"/>
              <a:t>You may need a couple of slides...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….use the thinking you will develop in the </a:t>
            </a:r>
            <a:r>
              <a:rPr lang="en-AU" dirty="0" err="1"/>
              <a:t>bmc</a:t>
            </a:r>
            <a:r>
              <a:rPr lang="en-AU" dirty="0"/>
              <a:t>/value proposition canvas to develop this slide…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How am I helping someone to do a job better?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What creates a gain for someone?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What is a pain for someone?</a:t>
            </a:r>
          </a:p>
        </p:txBody>
      </p:sp>
      <p:sp>
        <p:nvSpPr>
          <p:cNvPr id="216" name="Shape 216"/>
          <p:cNvSpPr/>
          <p:nvPr/>
        </p:nvSpPr>
        <p:spPr>
          <a:xfrm>
            <a:off x="8790700" y="1995050"/>
            <a:ext cx="3104700" cy="29925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I can see that there is a problem here even though it is not in my field. But that is a massive problem to solve and I am sceptical that you can. </a:t>
            </a:r>
          </a:p>
        </p:txBody>
      </p:sp>
    </p:spTree>
    <p:extLst>
      <p:ext uri="{BB962C8B-B14F-4D97-AF65-F5344CB8AC3E}">
        <p14:creationId xmlns:p14="http://schemas.microsoft.com/office/powerpoint/2010/main" val="315920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WHAT IF IT COULD BE SOLVED?</a:t>
            </a:r>
          </a:p>
        </p:txBody>
      </p:sp>
      <p:sp>
        <p:nvSpPr>
          <p:cNvPr id="224" name="Shape 224"/>
          <p:cNvSpPr txBox="1">
            <a:spLocks noGrp="1"/>
          </p:cNvSpPr>
          <p:nvPr>
            <p:ph type="body" sz="quarter" idx="4294967295"/>
          </p:nvPr>
        </p:nvSpPr>
        <p:spPr>
          <a:xfrm>
            <a:off x="703384" y="1860026"/>
            <a:ext cx="6127750" cy="3876675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AU" dirty="0"/>
              <a:t>You may need a couple of slides… can you show me? Help me picture it.</a:t>
            </a:r>
          </a:p>
          <a:p>
            <a:pPr>
              <a:spcBef>
                <a:spcPts val="0"/>
              </a:spcBef>
            </a:pPr>
            <a:endParaRPr lang="en-AU" dirty="0"/>
          </a:p>
          <a:p>
            <a:pPr>
              <a:spcBef>
                <a:spcPts val="0"/>
              </a:spcBef>
            </a:pPr>
            <a:r>
              <a:rPr lang="en-AU" dirty="0"/>
              <a:t>Again, use the thinking from the value proposition canvas to develop this slide….</a:t>
            </a:r>
          </a:p>
        </p:txBody>
      </p:sp>
      <p:sp>
        <p:nvSpPr>
          <p:cNvPr id="225" name="Shape 225"/>
          <p:cNvSpPr/>
          <p:nvPr/>
        </p:nvSpPr>
        <p:spPr>
          <a:xfrm>
            <a:off x="8790700" y="1995050"/>
            <a:ext cx="3104700" cy="29925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Stakeholder’s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Click… boom… amazing… wow. Surely others are doing it? If not, why not? If they are, how are you unique?</a:t>
            </a:r>
          </a:p>
        </p:txBody>
      </p:sp>
    </p:spTree>
    <p:extLst>
      <p:ext uri="{BB962C8B-B14F-4D97-AF65-F5344CB8AC3E}">
        <p14:creationId xmlns:p14="http://schemas.microsoft.com/office/powerpoint/2010/main" val="2397064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HERE’S THE COMPETITION</a:t>
            </a:r>
          </a:p>
        </p:txBody>
      </p:sp>
      <p:sp>
        <p:nvSpPr>
          <p:cNvPr id="231" name="Shape 231"/>
          <p:cNvSpPr txBox="1">
            <a:spLocks noGrp="1"/>
          </p:cNvSpPr>
          <p:nvPr>
            <p:ph type="body" sz="quarter" idx="4294967295"/>
          </p:nvPr>
        </p:nvSpPr>
        <p:spPr>
          <a:xfrm>
            <a:off x="0" y="1112838"/>
            <a:ext cx="6127750" cy="644525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dirty="0">
                <a:solidFill>
                  <a:schemeClr val="tx1">
                    <a:lumMod val="20000"/>
                    <a:lumOff val="80000"/>
                  </a:schemeClr>
                </a:solidFill>
              </a:rPr>
              <a:t>Can you see how unique we are?</a:t>
            </a:r>
          </a:p>
        </p:txBody>
      </p:sp>
      <p:sp>
        <p:nvSpPr>
          <p:cNvPr id="233" name="Shape 233"/>
          <p:cNvSpPr/>
          <p:nvPr/>
        </p:nvSpPr>
        <p:spPr>
          <a:xfrm>
            <a:off x="8790700" y="3112750"/>
            <a:ext cx="3104700" cy="29925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Stakeholder’s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I can see how these are the important factors that customers think about when choosing a supplier and how you guys standout…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Sounds great but how do you make money out of this?</a:t>
            </a:r>
          </a:p>
        </p:txBody>
      </p:sp>
      <p:cxnSp>
        <p:nvCxnSpPr>
          <p:cNvPr id="234" name="Shape 234"/>
          <p:cNvCxnSpPr/>
          <p:nvPr/>
        </p:nvCxnSpPr>
        <p:spPr>
          <a:xfrm>
            <a:off x="4490714" y="2650752"/>
            <a:ext cx="8400" cy="2485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5" name="Shape 235"/>
          <p:cNvCxnSpPr/>
          <p:nvPr/>
        </p:nvCxnSpPr>
        <p:spPr>
          <a:xfrm rot="10800000" flipH="1">
            <a:off x="1408030" y="3800948"/>
            <a:ext cx="6432900" cy="255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36" name="Shape 236"/>
          <p:cNvSpPr txBox="1"/>
          <p:nvPr/>
        </p:nvSpPr>
        <p:spPr>
          <a:xfrm>
            <a:off x="544000" y="3542500"/>
            <a:ext cx="864000" cy="54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Low cost</a:t>
            </a:r>
          </a:p>
        </p:txBody>
      </p:sp>
      <p:sp>
        <p:nvSpPr>
          <p:cNvPr id="237" name="Shape 237"/>
          <p:cNvSpPr txBox="1"/>
          <p:nvPr/>
        </p:nvSpPr>
        <p:spPr>
          <a:xfrm>
            <a:off x="7840949" y="3467050"/>
            <a:ext cx="955800" cy="69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High cost</a:t>
            </a:r>
          </a:p>
        </p:txBody>
      </p:sp>
      <p:sp>
        <p:nvSpPr>
          <p:cNvPr id="238" name="Shape 238"/>
          <p:cNvSpPr txBox="1"/>
          <p:nvPr/>
        </p:nvSpPr>
        <p:spPr>
          <a:xfrm>
            <a:off x="4017025" y="2249337"/>
            <a:ext cx="955800" cy="286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Strong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x="4017020" y="5085343"/>
            <a:ext cx="955800" cy="54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Weak</a:t>
            </a:r>
          </a:p>
        </p:txBody>
      </p:sp>
      <p:sp>
        <p:nvSpPr>
          <p:cNvPr id="240" name="Shape 240"/>
          <p:cNvSpPr/>
          <p:nvPr/>
        </p:nvSpPr>
        <p:spPr>
          <a:xfrm>
            <a:off x="5972200" y="4399950"/>
            <a:ext cx="1407600" cy="462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THEM</a:t>
            </a:r>
          </a:p>
        </p:txBody>
      </p:sp>
      <p:sp>
        <p:nvSpPr>
          <p:cNvPr id="241" name="Shape 241"/>
          <p:cNvSpPr/>
          <p:nvPr/>
        </p:nvSpPr>
        <p:spPr>
          <a:xfrm>
            <a:off x="1484225" y="2650750"/>
            <a:ext cx="1407600" cy="462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US</a:t>
            </a:r>
          </a:p>
        </p:txBody>
      </p:sp>
      <p:sp>
        <p:nvSpPr>
          <p:cNvPr id="242" name="Shape 242"/>
          <p:cNvSpPr/>
          <p:nvPr/>
        </p:nvSpPr>
        <p:spPr>
          <a:xfrm>
            <a:off x="8790700" y="1208875"/>
            <a:ext cx="2290200" cy="1216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It doesn’t need to be a matrix like this but how can you show it visually for rapid understanding?</a:t>
            </a:r>
          </a:p>
        </p:txBody>
      </p:sp>
    </p:spTree>
    <p:extLst>
      <p:ext uri="{BB962C8B-B14F-4D97-AF65-F5344CB8AC3E}">
        <p14:creationId xmlns:p14="http://schemas.microsoft.com/office/powerpoint/2010/main" val="428146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WHY US?</a:t>
            </a:r>
          </a:p>
        </p:txBody>
      </p:sp>
      <p:sp>
        <p:nvSpPr>
          <p:cNvPr id="250" name="Shape 250"/>
          <p:cNvSpPr txBox="1">
            <a:spLocks noGrp="1"/>
          </p:cNvSpPr>
          <p:nvPr>
            <p:ph type="body" sz="quarter" idx="4294967295"/>
          </p:nvPr>
        </p:nvSpPr>
        <p:spPr>
          <a:xfrm>
            <a:off x="844061" y="1884956"/>
            <a:ext cx="6127750" cy="3875087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AU" dirty="0"/>
              <a:t>Picture of the team. Why are you the best people in the world to deliver this? </a:t>
            </a:r>
          </a:p>
        </p:txBody>
      </p:sp>
      <p:sp>
        <p:nvSpPr>
          <p:cNvPr id="251" name="Shape 251"/>
          <p:cNvSpPr/>
          <p:nvPr/>
        </p:nvSpPr>
        <p:spPr>
          <a:xfrm>
            <a:off x="8790700" y="1995050"/>
            <a:ext cx="3104700" cy="29925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Stakeholder’s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I need to know that you have the experience to figure this business out and that you are obsessed with making it happen. Passionate. Unstoppable.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Sounds like you are… but where’s the proof…?</a:t>
            </a:r>
          </a:p>
        </p:txBody>
      </p:sp>
    </p:spTree>
    <p:extLst>
      <p:ext uri="{BB962C8B-B14F-4D97-AF65-F5344CB8AC3E}">
        <p14:creationId xmlns:p14="http://schemas.microsoft.com/office/powerpoint/2010/main" val="3105880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STATUS &amp; TRACTION!</a:t>
            </a:r>
          </a:p>
        </p:txBody>
      </p:sp>
      <p:sp>
        <p:nvSpPr>
          <p:cNvPr id="257" name="Shape 257"/>
          <p:cNvSpPr txBox="1">
            <a:spLocks noGrp="1"/>
          </p:cNvSpPr>
          <p:nvPr>
            <p:ph type="body" sz="quarter" idx="4294967295"/>
          </p:nvPr>
        </p:nvSpPr>
        <p:spPr>
          <a:xfrm>
            <a:off x="611624" y="1028431"/>
            <a:ext cx="11110913" cy="871538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AU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We are unstoppable. We do the right things in the right order</a:t>
            </a:r>
          </a:p>
        </p:txBody>
      </p:sp>
      <p:sp>
        <p:nvSpPr>
          <p:cNvPr id="259" name="Shape 259"/>
          <p:cNvSpPr/>
          <p:nvPr/>
        </p:nvSpPr>
        <p:spPr>
          <a:xfrm>
            <a:off x="8790700" y="1995050"/>
            <a:ext cx="3104700" cy="29925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Stakeholder’s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You will deploy resources well to increase value and decrease risk. I’d better get on the train because you will go ahead whether I am on it or not.</a:t>
            </a:r>
          </a:p>
        </p:txBody>
      </p:sp>
      <p:sp>
        <p:nvSpPr>
          <p:cNvPr id="260" name="Shape 260"/>
          <p:cNvSpPr/>
          <p:nvPr/>
        </p:nvSpPr>
        <p:spPr>
          <a:xfrm>
            <a:off x="1049274" y="2028330"/>
            <a:ext cx="2064000" cy="20643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DONE</a:t>
            </a:r>
          </a:p>
        </p:txBody>
      </p:sp>
      <p:sp>
        <p:nvSpPr>
          <p:cNvPr id="261" name="Shape 261"/>
          <p:cNvSpPr/>
          <p:nvPr/>
        </p:nvSpPr>
        <p:spPr>
          <a:xfrm>
            <a:off x="3453574" y="2028330"/>
            <a:ext cx="2064000" cy="20643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DOING</a:t>
            </a:r>
          </a:p>
        </p:txBody>
      </p:sp>
      <p:sp>
        <p:nvSpPr>
          <p:cNvPr id="262" name="Shape 262"/>
          <p:cNvSpPr/>
          <p:nvPr/>
        </p:nvSpPr>
        <p:spPr>
          <a:xfrm>
            <a:off x="5857874" y="2028330"/>
            <a:ext cx="2064000" cy="20643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NEXT</a:t>
            </a:r>
          </a:p>
        </p:txBody>
      </p:sp>
      <p:cxnSp>
        <p:nvCxnSpPr>
          <p:cNvPr id="263" name="Shape 263"/>
          <p:cNvCxnSpPr/>
          <p:nvPr/>
        </p:nvCxnSpPr>
        <p:spPr>
          <a:xfrm>
            <a:off x="1034925" y="4443155"/>
            <a:ext cx="685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264" name="Shape 264"/>
          <p:cNvSpPr txBox="1"/>
          <p:nvPr/>
        </p:nvSpPr>
        <p:spPr>
          <a:xfrm>
            <a:off x="1063975" y="4455084"/>
            <a:ext cx="6858000" cy="54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Short timeframe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66AEAE-45AB-4359-8B10-309F06DAD15B}"/>
              </a:ext>
            </a:extLst>
          </p:cNvPr>
          <p:cNvSpPr txBox="1"/>
          <p:nvPr/>
        </p:nvSpPr>
        <p:spPr>
          <a:xfrm>
            <a:off x="611624" y="4873469"/>
            <a:ext cx="698274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Again, use the business model canvas to develop this slide: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Which resources do I need to build and deliver my value proposition?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are the key activities that I need to undertake to build and deliver my value proposition?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partnerships do I need to build?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is it going to cost me?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much money will it make me? How much money will it save me?</a:t>
            </a:r>
          </a:p>
        </p:txBody>
      </p:sp>
    </p:spTree>
    <p:extLst>
      <p:ext uri="{BB962C8B-B14F-4D97-AF65-F5344CB8AC3E}">
        <p14:creationId xmlns:p14="http://schemas.microsoft.com/office/powerpoint/2010/main" val="2362956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THE ASK</a:t>
            </a:r>
          </a:p>
        </p:txBody>
      </p:sp>
      <p:sp>
        <p:nvSpPr>
          <p:cNvPr id="272" name="Shape 272"/>
          <p:cNvSpPr txBox="1">
            <a:spLocks noGrp="1"/>
          </p:cNvSpPr>
          <p:nvPr>
            <p:ph type="body" sz="quarter" idx="4294967295"/>
          </p:nvPr>
        </p:nvSpPr>
        <p:spPr>
          <a:xfrm>
            <a:off x="874206" y="1995050"/>
            <a:ext cx="6127750" cy="3875088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r>
              <a:rPr lang="en-AU" dirty="0"/>
              <a:t>Do I have your permission to go ahead?</a:t>
            </a:r>
          </a:p>
          <a:p>
            <a:r>
              <a:rPr lang="en-AU" dirty="0"/>
              <a:t>When?</a:t>
            </a:r>
          </a:p>
          <a:p>
            <a:r>
              <a:rPr lang="en-AU" dirty="0"/>
              <a:t>How much resource can I count?</a:t>
            </a:r>
          </a:p>
          <a:p>
            <a:r>
              <a:rPr lang="en-AU" dirty="0"/>
              <a:t>Etc </a:t>
            </a:r>
            <a:r>
              <a:rPr lang="en-AU" dirty="0" err="1"/>
              <a:t>etc</a:t>
            </a:r>
            <a:r>
              <a:rPr lang="en-AU" dirty="0"/>
              <a:t> </a:t>
            </a:r>
            <a:r>
              <a:rPr lang="en-AU" dirty="0" err="1"/>
              <a:t>etc</a:t>
            </a:r>
            <a:r>
              <a:rPr lang="en-AU" dirty="0"/>
              <a:t>…</a:t>
            </a:r>
          </a:p>
          <a:p>
            <a:pPr lvl="0" rtl="0">
              <a:spcBef>
                <a:spcPts val="0"/>
              </a:spcBef>
              <a:buNone/>
            </a:pPr>
            <a:endParaRPr lang="en-AU" dirty="0"/>
          </a:p>
        </p:txBody>
      </p:sp>
      <p:sp>
        <p:nvSpPr>
          <p:cNvPr id="273" name="Shape 273"/>
          <p:cNvSpPr/>
          <p:nvPr/>
        </p:nvSpPr>
        <p:spPr>
          <a:xfrm>
            <a:off x="8790700" y="1995050"/>
            <a:ext cx="3104700" cy="29925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I can see how I can get involved.</a:t>
            </a:r>
          </a:p>
        </p:txBody>
      </p:sp>
    </p:spTree>
    <p:extLst>
      <p:ext uri="{BB962C8B-B14F-4D97-AF65-F5344CB8AC3E}">
        <p14:creationId xmlns:p14="http://schemas.microsoft.com/office/powerpoint/2010/main" val="267287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AU" sz="3400" dirty="0"/>
              <a:t>THE NEW BLISS</a:t>
            </a:r>
          </a:p>
        </p:txBody>
      </p:sp>
      <p:sp>
        <p:nvSpPr>
          <p:cNvPr id="280" name="Shape 280"/>
          <p:cNvSpPr txBox="1">
            <a:spLocks noGrp="1"/>
          </p:cNvSpPr>
          <p:nvPr>
            <p:ph type="body" sz="quarter" idx="4294967295"/>
          </p:nvPr>
        </p:nvSpPr>
        <p:spPr>
          <a:xfrm>
            <a:off x="611624" y="1848679"/>
            <a:ext cx="6127750" cy="3875088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AU" dirty="0"/>
              <a:t>Restate Unique Value Proposition </a:t>
            </a:r>
          </a:p>
        </p:txBody>
      </p:sp>
      <p:sp>
        <p:nvSpPr>
          <p:cNvPr id="281" name="Shape 281"/>
          <p:cNvSpPr/>
          <p:nvPr/>
        </p:nvSpPr>
        <p:spPr>
          <a:xfrm>
            <a:off x="8790700" y="1995050"/>
            <a:ext cx="3104700" cy="29925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Stakeholder’s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Titillium Web"/>
                <a:cs typeface="Titillium Web"/>
                <a:sym typeface="Titillium Web"/>
              </a:rPr>
              <a:t>I want to talk more to these people...</a:t>
            </a:r>
          </a:p>
        </p:txBody>
      </p:sp>
    </p:spTree>
    <p:extLst>
      <p:ext uri="{BB962C8B-B14F-4D97-AF65-F5344CB8AC3E}">
        <p14:creationId xmlns:p14="http://schemas.microsoft.com/office/powerpoint/2010/main" val="28009046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CU PPoint Template 2 + Cover" id="{F09C4548-885B-364B-8E64-1390AEC52FFE}" vid="{6CC56E86-0230-914A-9DCC-27C6EECB3B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CU PPoint Template 2 + Cover" id="{F09C4548-885B-364B-8E64-1390AEC52FFE}" vid="{5A9E07AC-3A0C-9940-AA04-2ADD068862A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472</TotalTime>
  <Words>733</Words>
  <Application>Microsoft Macintosh PowerPoint</Application>
  <PresentationFormat>Widescreen</PresentationFormat>
  <Paragraphs>102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Montserrat</vt:lpstr>
      <vt:lpstr>Montserrat ExtraBold</vt:lpstr>
      <vt:lpstr>Open Sans Light</vt:lpstr>
      <vt:lpstr>Playfair Display</vt:lpstr>
      <vt:lpstr>Titillium Web</vt:lpstr>
      <vt:lpstr>Custom Design</vt:lpstr>
      <vt:lpstr>Office Theme</vt:lpstr>
      <vt:lpstr>PowerPoint Presentation</vt:lpstr>
      <vt:lpstr>How to tell a great story</vt:lpstr>
      <vt:lpstr>SLIDE THEME </vt:lpstr>
      <vt:lpstr>Product/Company Name</vt:lpstr>
      <vt:lpstr>THE PROBLEM WE ARE SOLVING</vt:lpstr>
      <vt:lpstr>WHAT IF IT COULD BE SOLVED?</vt:lpstr>
      <vt:lpstr>HERE’S THE COMPETITION</vt:lpstr>
      <vt:lpstr>WHY US?</vt:lpstr>
      <vt:lpstr>STATUS &amp; TRACTION!</vt:lpstr>
      <vt:lpstr>THE ASK</vt:lpstr>
      <vt:lpstr>THE NEW BLISS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LeBherz, Cameron</dc:creator>
  <cp:lastModifiedBy>Nico Adams</cp:lastModifiedBy>
  <cp:revision>64</cp:revision>
  <dcterms:created xsi:type="dcterms:W3CDTF">2019-02-21T05:35:43Z</dcterms:created>
  <dcterms:modified xsi:type="dcterms:W3CDTF">2024-07-29T01:48:06Z</dcterms:modified>
</cp:coreProperties>
</file>